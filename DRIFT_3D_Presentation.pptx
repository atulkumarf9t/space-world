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005840"/>
            <a:ext cx="4572000" cy="4572000"/>
          </a:xfrm>
          <a:prstGeom prst="ellipse">
            <a:avLst/>
          </a:prstGeom>
          <a:ln w="12700">
            <a:solidFill>
              <a:srgbClr val="1C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737360"/>
            <a:ext cx="3108960" cy="3108960"/>
          </a:xfrm>
          <a:prstGeom prst="ellipse">
            <a:avLst/>
          </a:prstGeom>
          <a:ln w="15875">
            <a:solidFill>
              <a:srgbClr val="5CC8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23160"/>
            <a:ext cx="1737360" cy="1737360"/>
          </a:xfrm>
          <a:prstGeom prst="ellipse">
            <a:avLst/>
          </a:prstGeom>
          <a:ln w="15875">
            <a:solidFill>
              <a:srgbClr val="3AD29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3291840"/>
            <a:ext cx="4572000" cy="0"/>
          </a:xfrm>
          <a:prstGeom prst="line">
            <a:avLst/>
          </a:prstGeom>
          <a:noFill/>
          <a:ln w="12700">
            <a:solidFill>
              <a:srgbClr val="1C28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509760" y="1005840"/>
            <a:ext cx="0" cy="4572000"/>
          </a:xfrm>
          <a:prstGeom prst="line">
            <a:avLst/>
          </a:prstGeom>
          <a:noFill/>
          <a:ln w="12700">
            <a:solidFill>
              <a:srgbClr val="1C28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436608" y="3218688"/>
            <a:ext cx="146304" cy="146304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8" name="Shape 6"/>
          <p:cNvSpPr/>
          <p:nvPr/>
        </p:nvSpPr>
        <p:spPr>
          <a:xfrm>
            <a:off x="10524744" y="2157984"/>
            <a:ext cx="164592" cy="164592"/>
          </a:xfrm>
          <a:prstGeom prst="ellipse">
            <a:avLst/>
          </a:prstGeom>
          <a:solidFill>
            <a:srgbClr val="3AD29F"/>
          </a:solidFill>
          <a:ln/>
        </p:spPr>
      </p:sp>
      <p:sp>
        <p:nvSpPr>
          <p:cNvPr id="9" name="Shape 7"/>
          <p:cNvSpPr/>
          <p:nvPr/>
        </p:nvSpPr>
        <p:spPr>
          <a:xfrm>
            <a:off x="10195560" y="4206240"/>
            <a:ext cx="182880" cy="182880"/>
          </a:xfrm>
          <a:prstGeom prst="ellipse">
            <a:avLst/>
          </a:prstGeom>
          <a:solidFill>
            <a:srgbClr val="C48855"/>
          </a:solidFill>
          <a:ln/>
        </p:spPr>
      </p:sp>
      <p:sp>
        <p:nvSpPr>
          <p:cNvPr id="10" name="Text 8"/>
          <p:cNvSpPr/>
          <p:nvPr/>
        </p:nvSpPr>
        <p:spPr>
          <a:xfrm>
            <a:off x="1074420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ASTEROID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AUTONOMOUS SPACE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200" kern="0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Conjunction Resolution on Electric Propulsion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perceives, plans, and flies real physics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world dreamed in real time.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1626"/>
          </a:solidFill>
          <a:ln w="12700">
            <a:solidFill>
              <a:srgbClr val="3AD2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4892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1626"/>
          </a:solidFill>
          <a:ln w="12700">
            <a:solidFill>
              <a:srgbClr val="C488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4892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1626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LEAST Δv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INCEPTION · AGENTS IN WORLDS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THE DILEMMA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converging encounter, two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12344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82296" cy="1234440"/>
          </a:xfrm>
          <a:prstGeom prst="rect">
            <a:avLst/>
          </a:prstGeom>
          <a:solidFill>
            <a:srgbClr val="3AD29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 the ally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5237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non-maneuvering satellite must stay outside the safe ring.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486400" cy="12344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337560"/>
            <a:ext cx="82296" cy="1234440"/>
          </a:xfrm>
          <a:prstGeom prst="rect">
            <a:avLst/>
          </a:prstGeom>
          <a:solidFill>
            <a:srgbClr val="C488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3016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the asteroid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37360" y="39410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incoming hazard on a collision course with the probe.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54880"/>
            <a:ext cx="5486400" cy="12344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754880"/>
            <a:ext cx="82296" cy="1234440"/>
          </a:xfrm>
          <a:prstGeom prst="rect">
            <a:avLst/>
          </a:prstGeom>
          <a:solidFill>
            <a:srgbClr val="5CC8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47488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956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the least Δv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53583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maneuver burns propellant — and propellant is mission life.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1920240"/>
            <a:ext cx="5212080" cy="3977640"/>
          </a:xfrm>
          <a:prstGeom prst="rect">
            <a:avLst/>
          </a:prstGeom>
          <a:solidFill>
            <a:srgbClr val="0B1120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583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CONJUNCTION GEOMETRY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406640" y="4937760"/>
            <a:ext cx="3200400" cy="-2011680"/>
          </a:xfrm>
          <a:prstGeom prst="line">
            <a:avLst/>
          </a:prstGeom>
          <a:noFill/>
          <a:ln w="15875">
            <a:solidFill>
              <a:srgbClr val="3AD29F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10332720" y="5120640"/>
            <a:ext cx="-2560320" cy="-365760"/>
          </a:xfrm>
          <a:prstGeom prst="line">
            <a:avLst/>
          </a:prstGeom>
          <a:noFill/>
          <a:ln w="15875">
            <a:solidFill>
              <a:srgbClr val="FF5D5D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10040112" y="2359152"/>
            <a:ext cx="1133856" cy="1133856"/>
          </a:xfrm>
          <a:prstGeom prst="ellipse">
            <a:avLst/>
          </a:prstGeom>
          <a:ln w="15875">
            <a:solidFill>
              <a:srgbClr val="3AD29F">
                <a:alpha val="7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829800" y="4617720"/>
            <a:ext cx="1005840" cy="1005840"/>
          </a:xfrm>
          <a:prstGeom prst="ellipse">
            <a:avLst/>
          </a:prstGeom>
          <a:ln w="15875">
            <a:solidFill>
              <a:srgbClr val="C48855">
                <a:alpha val="7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06056" y="4837176"/>
            <a:ext cx="201168" cy="201168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26" name="Shape 21"/>
          <p:cNvSpPr/>
          <p:nvPr/>
        </p:nvSpPr>
        <p:spPr>
          <a:xfrm>
            <a:off x="10515600" y="2834640"/>
            <a:ext cx="182880" cy="182880"/>
          </a:xfrm>
          <a:prstGeom prst="ellipse">
            <a:avLst/>
          </a:prstGeom>
          <a:solidFill>
            <a:srgbClr val="3AD29F"/>
          </a:solidFill>
          <a:ln/>
        </p:spPr>
      </p:sp>
      <p:sp>
        <p:nvSpPr>
          <p:cNvPr id="27" name="Shape 22"/>
          <p:cNvSpPr/>
          <p:nvPr/>
        </p:nvSpPr>
        <p:spPr>
          <a:xfrm>
            <a:off x="10222992" y="5010912"/>
            <a:ext cx="219456" cy="219456"/>
          </a:xfrm>
          <a:prstGeom prst="ellipse">
            <a:avLst/>
          </a:prstGeom>
          <a:solidFill>
            <a:srgbClr val="C48855"/>
          </a:solidFill>
          <a:ln/>
        </p:spPr>
      </p:sp>
      <p:sp>
        <p:nvSpPr>
          <p:cNvPr id="28" name="Text 23"/>
          <p:cNvSpPr/>
          <p:nvPr/>
        </p:nvSpPr>
        <p:spPr>
          <a:xfrm>
            <a:off x="6903720" y="5102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88136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ALLY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149840" y="5623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ASTEROID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58368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ring · miss distance · time-to-closest-approach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loops, one craft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6432" cy="32004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456432" cy="82296"/>
          </a:xfrm>
          <a:prstGeom prst="rect">
            <a:avLst/>
          </a:prstGeom>
          <a:solidFill>
            <a:srgbClr val="5CC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Hz · the brain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minimum-Δv maneuver, narrates intent, refuses moves it can't afford.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95928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15968" y="1965960"/>
            <a:ext cx="3456432" cy="32004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5968" y="1965960"/>
            <a:ext cx="3456432" cy="82296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7744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FLIGHT MODEL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81728" y="37033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 Hz · the constraint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81728" y="40690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intent into metered thrust under momentum, propellant and power limits.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63256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083296" y="1965960"/>
            <a:ext cx="3456432" cy="32004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83296" y="1965960"/>
            <a:ext cx="3456432" cy="82296"/>
          </a:xfrm>
          <a:prstGeom prst="rect">
            <a:avLst/>
          </a:prstGeom>
          <a:solidFill>
            <a:srgbClr val="3AD29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377440"/>
            <a:ext cx="777240" cy="7772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9056" y="32918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 MODEL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49056" y="37033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24–30 fps · the medium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49056" y="406908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Reactor backdrop, streamed over WebRTC and composited behind the scene.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idea:  </a:t>
            </a:r>
            <a:pPr indent="0" marL="0">
              <a:buNone/>
            </a:pPr>
            <a:r>
              <a:rPr lang="en-US" sz="1350" b="1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propulsion is the transfer function between the agent's will and the controls.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the agent resolve a conjunction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498080" cy="4114800"/>
          </a:xfrm>
          <a:prstGeom prst="rect">
            <a:avLst/>
          </a:prstGeom>
          <a:solidFill>
            <a:srgbClr val="02040A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0" y="4663440"/>
            <a:ext cx="3566160" cy="-1463040"/>
          </a:xfrm>
          <a:prstGeom prst="line">
            <a:avLst/>
          </a:prstGeom>
          <a:noFill/>
          <a:ln w="15875">
            <a:solidFill>
              <a:srgbClr val="3AD29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583680" y="5029200"/>
            <a:ext cx="-4023360" cy="-365760"/>
          </a:xfrm>
          <a:prstGeom prst="line">
            <a:avLst/>
          </a:prstGeom>
          <a:noFill/>
          <a:ln w="19050">
            <a:solidFill>
              <a:srgbClr val="FF5D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2560320"/>
            <a:ext cx="1280160" cy="1280160"/>
          </a:xfrm>
          <a:prstGeom prst="ellipse">
            <a:avLst/>
          </a:prstGeom>
          <a:ln w="19050">
            <a:solidFill>
              <a:srgbClr val="3AD29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4480560"/>
            <a:ext cx="1097280" cy="1097280"/>
          </a:xfrm>
          <a:prstGeom prst="ellipse">
            <a:avLst/>
          </a:prstGeom>
          <a:ln w="19050">
            <a:solidFill>
              <a:srgbClr val="C48855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3200400"/>
            <a:ext cx="228600" cy="0"/>
          </a:xfrm>
          <a:prstGeom prst="line">
            <a:avLst/>
          </a:prstGeom>
          <a:noFill/>
          <a:ln w="19050">
            <a:solidFill>
              <a:srgbClr val="3AD2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3200400"/>
            <a:ext cx="228600" cy="0"/>
          </a:xfrm>
          <a:prstGeom prst="line">
            <a:avLst/>
          </a:prstGeom>
          <a:noFill/>
          <a:ln w="19050">
            <a:solidFill>
              <a:srgbClr val="3AD2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4553712"/>
            <a:ext cx="219456" cy="219456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108960"/>
            <a:ext cx="182880" cy="182880"/>
          </a:xfrm>
          <a:prstGeom prst="ellipse">
            <a:avLst/>
          </a:prstGeom>
          <a:solidFill>
            <a:srgbClr val="3AD29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64808" y="4910328"/>
            <a:ext cx="237744" cy="237744"/>
          </a:xfrm>
          <a:prstGeom prst="ellipse">
            <a:avLst/>
          </a:prstGeom>
          <a:solidFill>
            <a:srgbClr val="C4885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ALLY — PROTECT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5623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ASTEROID — AVOID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THREAT ALERT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AUTOPILOT —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WATCH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505456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6968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ribbons trace each body's predicted path.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346704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69680" y="3264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 markers pin the moment of closest approach.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187952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69680" y="41056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 line flips red → green as it clears the safe ring.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2920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69680" y="49469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Δv ledger grades efficiency against the optimal burn.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ELECTRIC PROPULSION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thrust, enormous patience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15184" cy="22860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178</a:t>
            </a:r>
            <a:pPr algn="ctr" indent="0" marL="0">
              <a:buNone/>
            </a:pPr>
            <a:r>
              <a:rPr lang="en-US" sz="180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38144" y="2148840"/>
            <a:ext cx="2615184" cy="22860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3,200</a:t>
            </a:r>
            <a:pPr algn="ctr" indent="0" marL="0">
              <a:buNone/>
            </a:pPr>
            <a:r>
              <a:rPr lang="en-US" sz="1800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38144" y="36118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impulse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7648" y="2148840"/>
            <a:ext cx="2615184" cy="22860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pPr algn="ctr" indent="0" marL="0">
              <a:buNone/>
            </a:pPr>
            <a:r>
              <a:rPr lang="en-US" sz="1800" dirty="0">
                <a:solidFill>
                  <a:srgbClr val="FFC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km/s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27648" y="36118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velocity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17152" y="2148840"/>
            <a:ext cx="2615184" cy="228600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17152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×630</a:t>
            </a:r>
            <a:pPr algn="ctr" indent="0" marL="0">
              <a:buNone/>
            </a:pP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17152" y="361188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time-warp to play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128016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92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ion engines are agonizingly gentle — millinewtons of thrust.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 is heavy and committed: plan turns early, ration xenon,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for free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console shows honest numbers; the time-warp keeps it playable.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POWER FROM 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world changes what the craft can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10896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377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SUNLIGHT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788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power authority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THRUST AUTHORITY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14400" y="3749040"/>
            <a:ext cx="4709160" cy="310896"/>
          </a:xfrm>
          <a:prstGeom prst="rect">
            <a:avLst/>
          </a:prstGeom>
          <a:solidFill>
            <a:srgbClr val="0A0F1C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749040"/>
            <a:ext cx="4473702" cy="310896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251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thrust available — the agent can maneuver freely.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965960"/>
            <a:ext cx="5440680" cy="310896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3172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79792" y="2377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SHADOW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79792" y="2788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≈30% power authority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65392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THRUST AUTHORITY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565392" y="3749040"/>
            <a:ext cx="4709160" cy="310896"/>
          </a:xfrm>
          <a:prstGeom prst="rect">
            <a:avLst/>
          </a:prstGeom>
          <a:solidFill>
            <a:srgbClr val="0A0F1C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65392" y="3749040"/>
            <a:ext cx="1318565" cy="310896"/>
          </a:xfrm>
          <a:prstGeom prst="rect">
            <a:avLst/>
          </a:prstGeom>
          <a:solidFill>
            <a:srgbClr val="FF5D5D"/>
          </a:solidFill>
          <a:ln/>
        </p:spPr>
      </p:sp>
      <p:sp>
        <p:nvSpPr>
          <p:cNvPr id="19" name="Text 15"/>
          <p:cNvSpPr/>
          <p:nvPr/>
        </p:nvSpPr>
        <p:spPr>
          <a:xfrm>
            <a:off x="6565392" y="4251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fades — the agent eases off and coasts until it brightens.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power is read from the brightness of the generated scene — exactly like a solar-electric satellite losing power in eclipse.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HUMAN ON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Grab the stick, hand it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00400" cy="219456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Autopilot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flies the minimum-Δv solution by default.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23360" y="1965960"/>
            <a:ext cx="3200400" cy="219456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33172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21208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(press G)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8912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over to dodge by hand, then release control back.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98080" y="1965960"/>
            <a:ext cx="4114800" cy="2194560"/>
          </a:xfrm>
          <a:prstGeom prst="rect">
            <a:avLst/>
          </a:prstGeom>
          <a:solidFill>
            <a:srgbClr val="0B1120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81812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Δv LEDGER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18120" y="2834640"/>
            <a:ext cx="3474720" cy="365760"/>
          </a:xfrm>
          <a:prstGeom prst="rect">
            <a:avLst/>
          </a:prstGeom>
          <a:solidFill>
            <a:srgbClr val="0A0F1C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18120" y="2834640"/>
            <a:ext cx="1737360" cy="36576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18" name="Shape 14"/>
          <p:cNvSpPr/>
          <p:nvPr/>
        </p:nvSpPr>
        <p:spPr>
          <a:xfrm>
            <a:off x="9555480" y="2834640"/>
            <a:ext cx="416966" cy="3657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9" name="Shape 15"/>
          <p:cNvSpPr/>
          <p:nvPr/>
        </p:nvSpPr>
        <p:spPr>
          <a:xfrm>
            <a:off x="10702138" y="2743200"/>
            <a:ext cx="0" cy="548640"/>
          </a:xfrm>
          <a:prstGeom prst="line">
            <a:avLst/>
          </a:prstGeom>
          <a:noFill/>
          <a:ln w="19050">
            <a:solidFill>
              <a:srgbClr val="8A93A6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10427818" y="3246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8181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agent</a:t>
            </a:r>
            <a:pPr indent="0" marL="0">
              <a:buNone/>
            </a:pPr>
            <a:r>
              <a:rPr lang="en-US" sz="11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■ you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1812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encounter is graded A–F on Δv efficiency vs. the optimal burn.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B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isn't all-or-nothing — the human-on-the-loop model real operations are moving toward.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happening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6916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82296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30,000+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objects in orbit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965960"/>
            <a:ext cx="3520440" cy="16916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965960"/>
            <a:ext cx="3520440" cy="82296"/>
          </a:xfrm>
          <a:prstGeom prst="rect">
            <a:avLst/>
          </a:prstGeom>
          <a:solidFill>
            <a:srgbClr val="3AD29F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331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AD2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17136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debris-avoidance maneuvers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965960"/>
            <a:ext cx="3520440" cy="1691640"/>
          </a:xfrm>
          <a:prstGeom prst="rect">
            <a:avLst/>
          </a:prstGeom>
          <a:solidFill>
            <a:srgbClr val="0E1626"/>
          </a:solidFill>
          <a:ln w="12700">
            <a:solidFill>
              <a:srgbClr val="1C28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965960"/>
            <a:ext cx="3520440" cy="82296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331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 of thousands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0275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maneuvers / 6 months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8016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Conjunction screening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Space Force issues Conjunction Data Messages keyed on TCA &amp; miss distance — the same quantities in the game.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9087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45994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avoidance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and others are building AI-assisted collision-avoidance as object counts climb toward Kessler-syndrome risk.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4982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535838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 electric propulsion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&amp; Hall thrusters fly today on Dawn, Starlink and GEO comsats — solar-powered, so they lose thrust in eclipse.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502920"/>
            <a:ext cx="1737360" cy="1737360"/>
          </a:xfrm>
          <a:prstGeom prst="ellipse">
            <a:avLst/>
          </a:prstGeom>
          <a:ln w="12700">
            <a:solidFill>
              <a:srgbClr val="1C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112" y="804672"/>
            <a:ext cx="1133856" cy="1133856"/>
          </a:xfrm>
          <a:prstGeom prst="ellipse">
            <a:avLst/>
          </a:prstGeom>
          <a:ln w="12700">
            <a:solidFill>
              <a:srgbClr val="5CC8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1325880"/>
            <a:ext cx="91440" cy="9144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480560"/>
            <a:ext cx="2011680" cy="2011680"/>
          </a:xfrm>
          <a:prstGeom prst="ellipse">
            <a:avLst/>
          </a:prstGeom>
          <a:ln w="12700">
            <a:solidFill>
              <a:srgbClr val="1C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846320"/>
            <a:ext cx="1280160" cy="1280160"/>
          </a:xfrm>
          <a:prstGeom prst="ellipse">
            <a:avLst/>
          </a:prstGeom>
          <a:ln w="12700">
            <a:solidFill>
              <a:srgbClr val="3AD29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physics you can trust.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generative world you can't predict.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DB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autonomous pilot reasoning between them.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3D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64465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3D — Autonomous Conjunction Resolution</dc:title>
  <dc:subject>PptxGenJS Presentation</dc:subject>
  <dc:creator>DRIFT 3D</dc:creator>
  <cp:lastModifiedBy>DRIFT 3D</cp:lastModifiedBy>
  <cp:revision>1</cp:revision>
  <dcterms:created xsi:type="dcterms:W3CDTF">2026-06-20T08:53:12Z</dcterms:created>
  <dcterms:modified xsi:type="dcterms:W3CDTF">2026-06-20T08:53:12Z</dcterms:modified>
</cp:coreProperties>
</file>